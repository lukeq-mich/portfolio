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4689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High-level overview: we are connecting our project sub-sites through a SharePoint hub site to a Copilot agent. Everything today is general — architecture, capabilities, and where we go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hub site sits above everything. Sub-sites for Projects and Captures — active and closed — register to the hub, which maintains the list of site URLs the agent queries from. The agent queries across the whole hub scope, so a single question reaches every connected site. Critically, the hub enforces SharePoint permissions — the agent only returns information the asking user already has access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things the agent will deliver: full visibility across all projects and captures; search for files or content in one place instead of site-by-site; and support for the frequent tasks teams ask about — project FAQs, IPRs, BRRs, and delegation. No query language or training needed — anyone can ask questions in plain English.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next steps: stand up the dedicated Projects hub, and align project sites to a common SharePoint structure so the agent's answers stay consistent as we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C92BA7-3491-0E92-42E5-3CD183A3058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8729663" y="10101580"/>
            <a:ext cx="85725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8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Leidos Proprietary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FFFF">
                  <a:alpha val="5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1333500" y="3571577"/>
            <a:ext cx="914400" cy="571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1333500" y="4009727"/>
            <a:ext cx="13735050" cy="1848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600" b="1" kern="0" spc="-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Project Sites to Copilot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1333500" y="6201073"/>
            <a:ext cx="146685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3000" dirty="0">
                <a:solidFill>
                  <a:srgbClr val="B8C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SharePoint hub site architecture powering our Copilot agent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820389"/>
            <a:ext cx="609600" cy="571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1333500" y="1162050"/>
            <a:ext cx="171831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50000"/>
              </a:lnSpc>
              <a:buNone/>
            </a:pPr>
            <a:r>
              <a:rPr lang="en-US" sz="4800" b="1" kern="0" spc="-37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Architecture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333500" y="1619250"/>
            <a:ext cx="171831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62500"/>
              </a:lnSpc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hub connects every project and capture site to a single agent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555260" y="2563267"/>
            <a:ext cx="3177480" cy="723900"/>
          </a:xfrm>
          <a:prstGeom prst="roundRect">
            <a:avLst>
              <a:gd name="adj" fmla="val 2632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8088660" y="2829967"/>
            <a:ext cx="232174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58824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Agent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34475" y="3287167"/>
            <a:ext cx="19050" cy="41910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9401175" y="3401467"/>
            <a:ext cx="3437766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permission-trimmed responses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554462" y="3706267"/>
            <a:ext cx="11179076" cy="723900"/>
          </a:xfrm>
          <a:prstGeom prst="roundRect">
            <a:avLst>
              <a:gd name="adj" fmla="val 2632"/>
            </a:avLst>
          </a:prstGeom>
          <a:solidFill>
            <a:srgbClr val="EFF4FB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4259312" y="3972967"/>
            <a:ext cx="342434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58824"/>
              </a:lnSpc>
              <a:buNone/>
            </a:pPr>
            <a:r>
              <a:rPr lang="en-US" sz="25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SharePoint Hub Site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7600950" y="3972967"/>
            <a:ext cx="707051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76923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registers sub-sites · populates links · enforces permissions 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134475" y="4430167"/>
            <a:ext cx="19050" cy="30480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4857750" y="4734967"/>
            <a:ext cx="85725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38100" dist="1905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8045351" y="4954042"/>
            <a:ext cx="2416865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71429"/>
              </a:lnSpc>
              <a:buNone/>
            </a:pPr>
            <a:r>
              <a:rPr lang="en-US" sz="2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of Site URL's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134475" y="5363617"/>
            <a:ext cx="19050" cy="26670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6" name="Shape 14"/>
          <p:cNvSpPr/>
          <p:nvPr/>
        </p:nvSpPr>
        <p:spPr>
          <a:xfrm>
            <a:off x="4857750" y="5630317"/>
            <a:ext cx="8572500" cy="1905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4857750" y="5649367"/>
            <a:ext cx="19050" cy="26670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13411200" y="5649367"/>
            <a:ext cx="19050" cy="26670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Shape 17"/>
          <p:cNvSpPr/>
          <p:nvPr/>
        </p:nvSpPr>
        <p:spPr>
          <a:xfrm>
            <a:off x="4000500" y="5916067"/>
            <a:ext cx="4572000" cy="1343025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905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0" name="Shape 18"/>
          <p:cNvSpPr/>
          <p:nvPr/>
        </p:nvSpPr>
        <p:spPr>
          <a:xfrm>
            <a:off x="4000500" y="7249567"/>
            <a:ext cx="4572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1" name="Shape 19"/>
          <p:cNvSpPr/>
          <p:nvPr/>
        </p:nvSpPr>
        <p:spPr>
          <a:xfrm>
            <a:off x="4000500" y="5916067"/>
            <a:ext cx="4572000" cy="381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2" name="Shape 20"/>
          <p:cNvSpPr/>
          <p:nvPr/>
        </p:nvSpPr>
        <p:spPr>
          <a:xfrm>
            <a:off x="4000500" y="5916067"/>
            <a:ext cx="9525" cy="13430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3" name="Shape 21"/>
          <p:cNvSpPr/>
          <p:nvPr/>
        </p:nvSpPr>
        <p:spPr>
          <a:xfrm>
            <a:off x="8562975" y="5916067"/>
            <a:ext cx="9525" cy="13430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4391025" y="6258967"/>
            <a:ext cx="417004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62500"/>
              </a:lnSpc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4391025" y="6620917"/>
            <a:ext cx="984498" cy="323850"/>
          </a:xfrm>
          <a:prstGeom prst="roundRect">
            <a:avLst>
              <a:gd name="adj" fmla="val 5882"/>
            </a:avLst>
          </a:prstGeom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4572000" y="6687592"/>
            <a:ext cx="72099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1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489823" y="6620917"/>
            <a:ext cx="1073646" cy="323850"/>
          </a:xfrm>
          <a:prstGeom prst="roundRect">
            <a:avLst>
              <a:gd name="adj" fmla="val 5882"/>
            </a:avLst>
          </a:prstGeom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Text 26"/>
          <p:cNvSpPr/>
          <p:nvPr/>
        </p:nvSpPr>
        <p:spPr>
          <a:xfrm>
            <a:off x="5670798" y="6687592"/>
            <a:ext cx="8190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715500" y="5916067"/>
            <a:ext cx="4572000" cy="1343025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905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0" name="Shape 28"/>
          <p:cNvSpPr/>
          <p:nvPr/>
        </p:nvSpPr>
        <p:spPr>
          <a:xfrm>
            <a:off x="9715500" y="7249567"/>
            <a:ext cx="4572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1" name="Shape 29"/>
          <p:cNvSpPr/>
          <p:nvPr/>
        </p:nvSpPr>
        <p:spPr>
          <a:xfrm>
            <a:off x="9715500" y="5916067"/>
            <a:ext cx="4572000" cy="381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9715500" y="5916067"/>
            <a:ext cx="9525" cy="13430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3" name="Shape 31"/>
          <p:cNvSpPr/>
          <p:nvPr/>
        </p:nvSpPr>
        <p:spPr>
          <a:xfrm>
            <a:off x="14277975" y="5916067"/>
            <a:ext cx="9525" cy="13430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4" name="Text 32"/>
          <p:cNvSpPr/>
          <p:nvPr/>
        </p:nvSpPr>
        <p:spPr>
          <a:xfrm>
            <a:off x="10106025" y="6258967"/>
            <a:ext cx="417004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62500"/>
              </a:lnSpc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10106025" y="6620917"/>
            <a:ext cx="984498" cy="323850"/>
          </a:xfrm>
          <a:prstGeom prst="roundRect">
            <a:avLst>
              <a:gd name="adj" fmla="val 5882"/>
            </a:avLst>
          </a:prstGeom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6" name="Text 34"/>
          <p:cNvSpPr/>
          <p:nvPr/>
        </p:nvSpPr>
        <p:spPr>
          <a:xfrm>
            <a:off x="10287000" y="6687592"/>
            <a:ext cx="72099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1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1204823" y="6620917"/>
            <a:ext cx="1073646" cy="323850"/>
          </a:xfrm>
          <a:prstGeom prst="roundRect">
            <a:avLst>
              <a:gd name="adj" fmla="val 5882"/>
            </a:avLst>
          </a:prstGeom>
          <a:ln w="9525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8" name="Text 36"/>
          <p:cNvSpPr/>
          <p:nvPr/>
        </p:nvSpPr>
        <p:spPr>
          <a:xfrm>
            <a:off x="11385798" y="6687592"/>
            <a:ext cx="8190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3964228" y="7640092"/>
            <a:ext cx="10477500" cy="1131391"/>
          </a:xfrm>
          <a:prstGeom prst="rect">
            <a:avLst/>
          </a:prstGeom>
          <a:solidFill>
            <a:srgbClr val="F8F9FA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U" dirty="0"/>
          </a:p>
        </p:txBody>
      </p:sp>
      <p:sp>
        <p:nvSpPr>
          <p:cNvPr id="40" name="Text 38"/>
          <p:cNvSpPr/>
          <p:nvPr/>
        </p:nvSpPr>
        <p:spPr>
          <a:xfrm>
            <a:off x="4257675" y="8110537"/>
            <a:ext cx="29036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66667"/>
              </a:lnSpc>
              <a:buNone/>
            </a:pPr>
            <a:r>
              <a:rPr lang="en-US" sz="22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50" dirty="0"/>
          </a:p>
        </p:txBody>
      </p:sp>
      <p:sp>
        <p:nvSpPr>
          <p:cNvPr id="41" name="Text 39"/>
          <p:cNvSpPr/>
          <p:nvPr/>
        </p:nvSpPr>
        <p:spPr>
          <a:xfrm>
            <a:off x="4700439" y="7859167"/>
            <a:ext cx="9609783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Permissions enforced at the hub. </a:t>
            </a: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inherits SharePoint access controls — users only see information they already have access to.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823020"/>
            <a:ext cx="609600" cy="571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1333500" y="1162050"/>
            <a:ext cx="171831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50000"/>
              </a:lnSpc>
              <a:buNone/>
            </a:pPr>
            <a:r>
              <a:rPr lang="en-US" sz="4800" b="1" kern="0" spc="-37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 Demo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3964547" y="2449413"/>
            <a:ext cx="4953000" cy="3104406"/>
          </a:xfrm>
          <a:prstGeom prst="roundRect">
            <a:avLst>
              <a:gd name="adj" fmla="val 61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38100" dist="1905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4393172" y="2916138"/>
            <a:ext cx="45053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50000"/>
              </a:lnSpc>
              <a:buNone/>
            </a:pPr>
            <a:r>
              <a:rPr lang="en-US" sz="4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393172" y="3335238"/>
            <a:ext cx="4505325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5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project visibility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4393172" y="3968650"/>
            <a:ext cx="4218623" cy="1156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project and capture — active or closed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9298547" y="2449413"/>
            <a:ext cx="4953000" cy="3104406"/>
          </a:xfrm>
          <a:prstGeom prst="roundRect">
            <a:avLst>
              <a:gd name="adj" fmla="val 61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38100" dist="1905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9727172" y="2916138"/>
            <a:ext cx="45053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50000"/>
              </a:lnSpc>
              <a:buNone/>
            </a:pPr>
            <a:r>
              <a:rPr lang="en-US" sz="4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9727172" y="3335238"/>
            <a:ext cx="4505325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5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search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9727172" y="3968650"/>
            <a:ext cx="4218623" cy="1156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files or content across all connected sites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9298547" y="6020544"/>
            <a:ext cx="4953000" cy="3104406"/>
          </a:xfrm>
          <a:prstGeom prst="roundRect">
            <a:avLst>
              <a:gd name="adj" fmla="val 61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38100" dist="1905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AU" dirty="0"/>
          </a:p>
        </p:txBody>
      </p:sp>
      <p:sp>
        <p:nvSpPr>
          <p:cNvPr id="14" name="Text 12"/>
          <p:cNvSpPr/>
          <p:nvPr/>
        </p:nvSpPr>
        <p:spPr>
          <a:xfrm>
            <a:off x="9727172" y="6487269"/>
            <a:ext cx="45053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50000"/>
              </a:lnSpc>
              <a:buNone/>
            </a:pPr>
            <a:r>
              <a:rPr lang="en-US" sz="4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9727172" y="6906369"/>
            <a:ext cx="4505325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5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Percy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727172" y="7539781"/>
            <a:ext cx="4218623" cy="1156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FAQs, IPRs, BRRs, and delegation</a:t>
            </a:r>
            <a:endParaRPr lang="en-US" sz="2025" dirty="0"/>
          </a:p>
        </p:txBody>
      </p:sp>
      <p:sp>
        <p:nvSpPr>
          <p:cNvPr id="24" name="Shape 11">
            <a:extLst>
              <a:ext uri="{FF2B5EF4-FFF2-40B4-BE49-F238E27FC236}">
                <a16:creationId xmlns:a16="http://schemas.microsoft.com/office/drawing/2014/main" id="{0EF29967-726E-F2E3-428A-C3C5B15B62A4}"/>
              </a:ext>
            </a:extLst>
          </p:cNvPr>
          <p:cNvSpPr/>
          <p:nvPr/>
        </p:nvSpPr>
        <p:spPr>
          <a:xfrm>
            <a:off x="3964547" y="6020544"/>
            <a:ext cx="4953000" cy="3104406"/>
          </a:xfrm>
          <a:prstGeom prst="roundRect">
            <a:avLst>
              <a:gd name="adj" fmla="val 61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38100" dist="1905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AU" dirty="0"/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C2D4EE0B-DA1F-B060-7AE1-C9082684FEB8}"/>
              </a:ext>
            </a:extLst>
          </p:cNvPr>
          <p:cNvSpPr/>
          <p:nvPr/>
        </p:nvSpPr>
        <p:spPr>
          <a:xfrm>
            <a:off x="4393172" y="6487269"/>
            <a:ext cx="45053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50000"/>
              </a:lnSpc>
              <a:buNone/>
            </a:pPr>
            <a:r>
              <a:rPr lang="en-US" sz="4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2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66538378-AF1E-CC1E-7536-896165200C17}"/>
              </a:ext>
            </a:extLst>
          </p:cNvPr>
          <p:cNvSpPr/>
          <p:nvPr/>
        </p:nvSpPr>
        <p:spPr>
          <a:xfrm>
            <a:off x="4393172" y="6906369"/>
            <a:ext cx="4505325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5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Agent</a:t>
            </a:r>
            <a:endParaRPr lang="en-US" sz="2550" dirty="0"/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30A06BEF-6205-7317-AEBC-5ED18355FBE6}"/>
              </a:ext>
            </a:extLst>
          </p:cNvPr>
          <p:cNvSpPr/>
          <p:nvPr/>
        </p:nvSpPr>
        <p:spPr>
          <a:xfrm>
            <a:off x="4393172" y="7539781"/>
            <a:ext cx="4218623" cy="1156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search threads: Sea Archer, JCSE, 2060</a:t>
            </a:r>
            <a:endParaRPr lang="en-US" sz="20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333500" y="804863"/>
            <a:ext cx="609600" cy="571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1333500" y="1162050"/>
            <a:ext cx="171831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50000"/>
              </a:lnSpc>
              <a:buNone/>
            </a:pPr>
            <a:r>
              <a:rPr lang="en-US" sz="4800" b="1" kern="0" spc="-3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333500" y="4171950"/>
            <a:ext cx="7581900" cy="2990850"/>
          </a:xfrm>
          <a:prstGeom prst="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47617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1838325" y="4714875"/>
            <a:ext cx="72294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76923"/>
              </a:lnSpc>
              <a:buNone/>
            </a:pPr>
            <a:r>
              <a:rPr lang="en-US" sz="1950" b="1" kern="0" spc="150" dirty="0">
                <a:solidFill>
                  <a:srgbClr val="7A9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 1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838325" y="5133975"/>
            <a:ext cx="722947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hub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838325" y="5819775"/>
            <a:ext cx="676941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B8C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Requisition a dedicated hub for project sites, extending the same agent access model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372600" y="4171950"/>
            <a:ext cx="7581900" cy="2990850"/>
          </a:xfrm>
          <a:prstGeom prst="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47617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9877425" y="4714875"/>
            <a:ext cx="72294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76923"/>
              </a:lnSpc>
              <a:buNone/>
            </a:pPr>
            <a:r>
              <a:rPr lang="en-US" sz="1950" b="1" kern="0" spc="150" dirty="0">
                <a:solidFill>
                  <a:srgbClr val="7A9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 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877425" y="5133975"/>
            <a:ext cx="722947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Project–SharePoint standardisation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9877425" y="5819775"/>
            <a:ext cx="676941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AU" sz="2100" dirty="0">
                <a:solidFill>
                  <a:srgbClr val="B8C7DA"/>
                </a:solidFill>
                <a:latin typeface="Arial" pitchFamily="34" charset="0"/>
                <a:cs typeface="Arial" pitchFamily="34" charset="-120"/>
              </a:rPr>
              <a:t>Adopt a common site structure and toolset so the agent queries more efficiently and answers more reliably</a:t>
            </a:r>
            <a:endParaRPr lang="en-US" sz="2100" dirty="0">
              <a:solidFill>
                <a:srgbClr val="B8C7DA"/>
              </a:solidFill>
              <a:latin typeface="Arial" pitchFamily="34" charset="0"/>
              <a:cs typeface="Arial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374</Words>
  <Application>Microsoft Office PowerPoint</Application>
  <PresentationFormat>Custom</PresentationFormat>
  <Paragraphs>45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Quarderer, Luke [AU-US]</cp:lastModifiedBy>
  <cp:revision>5</cp:revision>
  <dcterms:created xsi:type="dcterms:W3CDTF">2026-07-07T00:59:22Z</dcterms:created>
  <dcterms:modified xsi:type="dcterms:W3CDTF">2026-07-07T03:16:00Z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7e5bb5-a604-4cb1-9730-a42b55ec14e1_Enabled">
    <vt:lpwstr>true</vt:lpwstr>
  </property>
  <property fmtid="{D5CDD505-2E9C-101B-9397-08002B2CF9AE}" pid="3" name="MSIP_Label_e87e5bb5-a604-4cb1-9730-a42b55ec14e1_SetDate">
    <vt:lpwstr>2026-07-07T00:59:41Z</vt:lpwstr>
  </property>
  <property fmtid="{D5CDD505-2E9C-101B-9397-08002B2CF9AE}" pid="4" name="MSIP_Label_e87e5bb5-a604-4cb1-9730-a42b55ec14e1_Method">
    <vt:lpwstr>Privileged</vt:lpwstr>
  </property>
  <property fmtid="{D5CDD505-2E9C-101B-9397-08002B2CF9AE}" pid="5" name="MSIP_Label_e87e5bb5-a604-4cb1-9730-a42b55ec14e1_Name">
    <vt:lpwstr>Leidos Proprietary</vt:lpwstr>
  </property>
  <property fmtid="{D5CDD505-2E9C-101B-9397-08002B2CF9AE}" pid="6" name="MSIP_Label_e87e5bb5-a604-4cb1-9730-a42b55ec14e1_SiteId">
    <vt:lpwstr>bc6ccf50-b09e-4c4e-9d1f-c00b2b9841f4</vt:lpwstr>
  </property>
  <property fmtid="{D5CDD505-2E9C-101B-9397-08002B2CF9AE}" pid="7" name="MSIP_Label_e87e5bb5-a604-4cb1-9730-a42b55ec14e1_ActionId">
    <vt:lpwstr>f7abc3dc-4d21-4e72-bf53-2955598cbdf0</vt:lpwstr>
  </property>
  <property fmtid="{D5CDD505-2E9C-101B-9397-08002B2CF9AE}" pid="8" name="MSIP_Label_e87e5bb5-a604-4cb1-9730-a42b55ec14e1_ContentBits">
    <vt:lpwstr>3</vt:lpwstr>
  </property>
  <property fmtid="{D5CDD505-2E9C-101B-9397-08002B2CF9AE}" pid="9" name="MSIP_Label_e87e5bb5-a604-4cb1-9730-a42b55ec14e1_Tag">
    <vt:lpwstr>10, 0, 1, 1</vt:lpwstr>
  </property>
  <property fmtid="{D5CDD505-2E9C-101B-9397-08002B2CF9AE}" pid="10" name="ClassificationContentMarkingFooterLocations">
    <vt:lpwstr>Office Theme:3</vt:lpwstr>
  </property>
  <property fmtid="{D5CDD505-2E9C-101B-9397-08002B2CF9AE}" pid="11" name="ClassificationContentMarkingFooterText">
    <vt:lpwstr>Leidos Proprietary</vt:lpwstr>
  </property>
</Properties>
</file>